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We're the DxHub AI Camp team, and this is VETTED — a technology-review workflow tool built for CSUB's Solutions Consulting committee. Every technology purchase at CSUB must be vetted before the university buys it. VETTED makes that vetting fast, consistent, and auditable, while keeping a human in charge of every final decision.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introductions — we're the DxHub AI Camp team working with our sponsor Chris Diniz from CSUB ITS. (Replace placeholders with each member's name, photo, and LinkedIn.)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Chris wants CSUB to have a real purchase review gate. CSUB requires every technology purchase — software, hardware, SaaS — to be vetted before the university buys. Three angles: security (data safety, encryption), accessibility (screen readers, VPAT — a Section 508 legal obligation for public universities), and contract/insurance (Chris: 'they only have $1M in liability insurance, is that okay?'). Enforcement was honor-system and widely skipped for years; the new Procure-to-Pay workflow hard-gates everything: no review, no PO. The review didn't get harder — it got unavoidable, and the process was never built for 100% compliance.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tree lives in reviewers' heads. Requesters can't self-serve and don't know the vocabulary — HECVAT, SOC 2, Level 1 data — so the committee lead answers the same questions by email, repeatedly. Document chasing is serial and human-driven; weeks pass. Every request — even a single-user, no-PII tool — gets the same full manual treatment, and the weekly vote means backlog compounds. Reviews that took 2–3 weeks now take about 2 months.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VETTED runs the vendor's evidence — HECVAT, SOC 2, VPAT — through an automated pipeline and produces a cited recommendation packet. Vendors submit through a one-time secure invitation link and answer only unresolved questions. Parallel AI specialists extract facts; a citation checker strips any claim without a source. Deterministic, versioned decision trees — plain code, not the model — assign the risk route. The chair sees the packet with full document trail and approves in one click. Human in the loop before anything finalizes — non-negotiable.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with hard boundaries. Layer 1: AI specialists read vendor documents in parallel; every claim must carry a citation or it's stripped. Layer 2: risk routing is deterministic code with versioned decision trees — a model can explain that result, it cannot change it. Layer 3: a person makes the final call; nothing is approved or written back without a recorded human decision, and write-back needs a second confirmation. Stack: React reviewer app (presentation only), Python review-agent backend, AWS Bedrock (Claude), DynamoDB, KMS-encrypted S3.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flow: a reviewer creates a case and issues a vendor invite; the vendor uploads evidence through the secure intake link and finalizes; the pipeline runs catalog lookup, deterministic policy routing, and parallel specialist analysis; the reviewer opens the packet, sees cited findings and evidence gaps, and records a decision; the simulated ServiceNow write-back requires a second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here was deliberately deferred from the 3-day sprint. Live ServiceNow write-back replaces the simulated adapter only after signature, authorization, idempotency, and audit tests pass. Slack sandbox first, then a Microsoft Teams adapter. Agentic vendor-document verification stays limited to official vendor domains and recognized standards sites. Scale work: expiring-evidence re-review, Bedrock Knowledge Bases when the corpus grows, SSO/Cognito hardening, production IAM. Posture: launch recommendation-only; automation expands as committee confidence grows.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Likely topics: how the deterministic rules are versioned and cited; what happens on a fuzzy catalog match (the pipeline pauses for human confirmation); how vendor invitation tokens are secured; and the path from simulated to live ServiceNow write-back. Close with the one organizing idea: deterministic rules own policy, the model only drafts and summarizes, and a human owns every consequential 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etted-logo.png"/>
          <p:cNvPicPr>
            <a:picLocks noChangeAspect="1"/>
          </p:cNvPicPr>
          <p:nvPr/>
        </p:nvPicPr>
        <p:blipFill>
          <a:blip r:embed="rId2"/>
          <a:stretch>
            <a:fillRect/>
          </a:stretch>
        </p:blipFill>
        <p:spPr>
          <a:xfrm>
            <a:off x="4724247" y="914400"/>
            <a:ext cx="2743200" cy="2743200"/>
          </a:xfrm>
          <a:prstGeom prst="rect">
            <a:avLst/>
          </a:prstGeom>
        </p:spPr>
      </p:pic>
      <p:sp>
        <p:nvSpPr>
          <p:cNvPr id="3" name="TextBox 2"/>
          <p:cNvSpPr txBox="1"/>
          <p:nvPr/>
        </p:nvSpPr>
        <p:spPr>
          <a:xfrm>
            <a:off x="0" y="3749039"/>
            <a:ext cx="12191695" cy="1005840"/>
          </a:xfrm>
          <a:prstGeom prst="rect">
            <a:avLst/>
          </a:prstGeom>
          <a:noFill/>
        </p:spPr>
        <p:txBody>
          <a:bodyPr wrap="square" anchor="t">
            <a:spAutoFit/>
          </a:bodyPr>
          <a:lstStyle/>
          <a:p>
            <a:pPr algn="ctr">
              <a:lnSpc>
                <a:spcPct val="100000"/>
              </a:lnSpc>
            </a:pPr>
            <a:r>
              <a:rPr sz="6000" b="1">
                <a:solidFill>
                  <a:srgbClr val="0032A0"/>
                </a:solidFill>
                <a:latin typeface="JetBrains Mono"/>
              </a:rPr>
              <a:t>VETTED</a:t>
            </a:r>
          </a:p>
        </p:txBody>
      </p:sp>
      <p:sp>
        <p:nvSpPr>
          <p:cNvPr id="4" name="Rectangle 3"/>
          <p:cNvSpPr/>
          <p:nvPr/>
        </p:nvSpPr>
        <p:spPr>
          <a:xfrm>
            <a:off x="4632807" y="4709160"/>
            <a:ext cx="2926080" cy="82296"/>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4937760"/>
            <a:ext cx="12191695" cy="457200"/>
          </a:xfrm>
          <a:prstGeom prst="rect">
            <a:avLst/>
          </a:prstGeom>
          <a:noFill/>
        </p:spPr>
        <p:txBody>
          <a:bodyPr wrap="square" anchor="t">
            <a:spAutoFit/>
          </a:bodyPr>
          <a:lstStyle/>
          <a:p>
            <a:pPr algn="ctr">
              <a:lnSpc>
                <a:spcPct val="100000"/>
              </a:lnSpc>
            </a:pPr>
            <a:r>
              <a:rPr sz="2000" b="0">
                <a:solidFill>
                  <a:srgbClr val="1A1A2E"/>
                </a:solidFill>
                <a:latin typeface="JetBrains Mono"/>
              </a:rPr>
              <a:t>AI reads. Rules route. People decide.</a:t>
            </a:r>
          </a:p>
        </p:txBody>
      </p:sp>
      <p:sp>
        <p:nvSpPr>
          <p:cNvPr id="6" name="TextBox 5"/>
          <p:cNvSpPr txBox="1"/>
          <p:nvPr/>
        </p:nvSpPr>
        <p:spPr>
          <a:xfrm>
            <a:off x="0" y="5989320"/>
            <a:ext cx="12191695" cy="365760"/>
          </a:xfrm>
          <a:prstGeom prst="rect">
            <a:avLst/>
          </a:prstGeom>
          <a:noFill/>
        </p:spPr>
        <p:txBody>
          <a:bodyPr wrap="square" anchor="t">
            <a:spAutoFit/>
          </a:bodyPr>
          <a:lstStyle/>
          <a:p>
            <a:pPr algn="ctr">
              <a:lnSpc>
                <a:spcPct val="100000"/>
              </a:lnSpc>
            </a:pPr>
            <a:r>
              <a:rPr sz="1300" b="0">
                <a:solidFill>
                  <a:srgbClr val="5A5A6E"/>
                </a:solidFill>
                <a:latin typeface="JetBrains Mono"/>
              </a:rPr>
              <a:t>CSUB × DxHub AI Summer Camp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822960"/>
          </a:xfrm>
          <a:prstGeom prst="rect">
            <a:avLst/>
          </a:prstGeom>
          <a:noFill/>
        </p:spPr>
        <p:txBody>
          <a:bodyPr wrap="square" anchor="t">
            <a:spAutoFit/>
          </a:bodyPr>
          <a:lstStyle/>
          <a:p>
            <a:pPr algn="l">
              <a:lnSpc>
                <a:spcPct val="100000"/>
              </a:lnSpc>
            </a:pPr>
            <a:r>
              <a:rPr sz="3400" b="1">
                <a:solidFill>
                  <a:srgbClr val="0032A0"/>
                </a:solidFill>
                <a:latin typeface="JetBrains Mono"/>
              </a:rPr>
              <a:t>Meet the Team</a:t>
            </a:r>
          </a:p>
        </p:txBody>
      </p:sp>
      <p:sp>
        <p:nvSpPr>
          <p:cNvPr id="3" name="TextBox 2"/>
          <p:cNvSpPr txBox="1"/>
          <p:nvPr/>
        </p:nvSpPr>
        <p:spPr>
          <a:xfrm>
            <a:off x="685800" y="1024128"/>
            <a:ext cx="10820095" cy="457200"/>
          </a:xfrm>
          <a:prstGeom prst="rect">
            <a:avLst/>
          </a:prstGeom>
          <a:noFill/>
        </p:spPr>
        <p:txBody>
          <a:bodyPr wrap="square" anchor="t">
            <a:spAutoFit/>
          </a:bodyPr>
          <a:lstStyle/>
          <a:p>
            <a:pPr algn="l">
              <a:lnSpc>
                <a:spcPct val="100000"/>
              </a:lnSpc>
            </a:pPr>
            <a:r>
              <a:rPr sz="1500" b="0">
                <a:solidFill>
                  <a:srgbClr val="5A5A6E"/>
                </a:solidFill>
                <a:latin typeface="JetBrains Mono"/>
              </a:rPr>
              <a:t>DxHub AI Camp · Sponsor: Chris Diniz, CSUB ITS</a:t>
            </a:r>
          </a:p>
        </p:txBody>
      </p:sp>
      <p:sp>
        <p:nvSpPr>
          <p:cNvPr id="4" name="Rectangle 3"/>
          <p:cNvSpPr/>
          <p:nvPr/>
        </p:nvSpPr>
        <p:spPr>
          <a:xfrm>
            <a:off x="685800" y="1417320"/>
            <a:ext cx="1828800" cy="82296"/>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0867" y="1920240"/>
            <a:ext cx="2606040" cy="402336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2367" y="2240280"/>
            <a:ext cx="1463040" cy="1463040"/>
          </a:xfrm>
          <a:prstGeom prst="ellipse">
            <a:avLst/>
          </a:prstGeom>
          <a:solidFill>
            <a:srgbClr val="E8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a:solidFill>
                  <a:srgbClr val="5A5A6E"/>
                </a:solidFill>
                <a:latin typeface="JetBrains Mono"/>
              </a:rPr>
              <a:t>[photo]</a:t>
            </a:r>
          </a:p>
        </p:txBody>
      </p:sp>
      <p:sp>
        <p:nvSpPr>
          <p:cNvPr id="7" name="TextBox 6"/>
          <p:cNvSpPr txBox="1"/>
          <p:nvPr/>
        </p:nvSpPr>
        <p:spPr>
          <a:xfrm>
            <a:off x="632307" y="3977639"/>
            <a:ext cx="2423160" cy="457200"/>
          </a:xfrm>
          <a:prstGeom prst="rect">
            <a:avLst/>
          </a:prstGeom>
          <a:noFill/>
        </p:spPr>
        <p:txBody>
          <a:bodyPr wrap="square" anchor="t">
            <a:spAutoFit/>
          </a:bodyPr>
          <a:lstStyle/>
          <a:p>
            <a:pPr algn="ctr">
              <a:lnSpc>
                <a:spcPct val="100000"/>
              </a:lnSpc>
            </a:pPr>
            <a:r>
              <a:rPr sz="1500" b="1">
                <a:solidFill>
                  <a:srgbClr val="0032A0"/>
                </a:solidFill>
                <a:latin typeface="JetBrains Mono"/>
              </a:rPr>
              <a:t>[Team Member 1]</a:t>
            </a:r>
          </a:p>
        </p:txBody>
      </p:sp>
      <p:sp>
        <p:nvSpPr>
          <p:cNvPr id="8" name="TextBox 7"/>
          <p:cNvSpPr txBox="1"/>
          <p:nvPr/>
        </p:nvSpPr>
        <p:spPr>
          <a:xfrm>
            <a:off x="632307" y="4434840"/>
            <a:ext cx="2423160" cy="365760"/>
          </a:xfrm>
          <a:prstGeom prst="rect">
            <a:avLst/>
          </a:prstGeom>
          <a:noFill/>
        </p:spPr>
        <p:txBody>
          <a:bodyPr wrap="square" anchor="t">
            <a:spAutoFit/>
          </a:bodyPr>
          <a:lstStyle/>
          <a:p>
            <a:pPr algn="ctr">
              <a:lnSpc>
                <a:spcPct val="100000"/>
              </a:lnSpc>
            </a:pPr>
            <a:r>
              <a:rPr sz="1200" b="0">
                <a:solidFill>
                  <a:srgbClr val="1A1A2E"/>
                </a:solidFill>
                <a:latin typeface="JetBrains Mono"/>
              </a:rPr>
              <a:t>[Role]</a:t>
            </a:r>
          </a:p>
        </p:txBody>
      </p:sp>
      <p:sp>
        <p:nvSpPr>
          <p:cNvPr id="9" name="TextBox 8"/>
          <p:cNvSpPr txBox="1"/>
          <p:nvPr/>
        </p:nvSpPr>
        <p:spPr>
          <a:xfrm>
            <a:off x="632307" y="4983480"/>
            <a:ext cx="2423160" cy="731520"/>
          </a:xfrm>
          <a:prstGeom prst="rect">
            <a:avLst/>
          </a:prstGeom>
          <a:noFill/>
        </p:spPr>
        <p:txBody>
          <a:bodyPr wrap="square" anchor="t">
            <a:spAutoFit/>
          </a:bodyPr>
          <a:lstStyle/>
          <a:p>
            <a:pPr algn="ctr">
              <a:lnSpc>
                <a:spcPct val="100000"/>
              </a:lnSpc>
            </a:pPr>
            <a:r>
              <a:rPr sz="1000" b="0">
                <a:solidFill>
                  <a:srgbClr val="5A5A6E"/>
                </a:solidFill>
                <a:latin typeface="JetBrains Mono"/>
              </a:rPr>
              <a:t>linkedin.com/in/</a:t>
            </a:r>
          </a:p>
          <a:p>
            <a:pPr algn="ctr">
              <a:lnSpc>
                <a:spcPct val="100000"/>
              </a:lnSpc>
            </a:pPr>
            <a:r>
              <a:rPr sz="1000" b="0">
                <a:solidFill>
                  <a:srgbClr val="5A5A6E"/>
                </a:solidFill>
                <a:latin typeface="JetBrains Mono"/>
              </a:rPr>
              <a:t>[placeholder-1]</a:t>
            </a:r>
          </a:p>
        </p:txBody>
      </p:sp>
      <p:sp>
        <p:nvSpPr>
          <p:cNvPr id="10" name="Rounded Rectangle 9"/>
          <p:cNvSpPr/>
          <p:nvPr/>
        </p:nvSpPr>
        <p:spPr>
          <a:xfrm>
            <a:off x="3375507" y="1920240"/>
            <a:ext cx="2606040" cy="402336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947007" y="2240280"/>
            <a:ext cx="1463040" cy="1463040"/>
          </a:xfrm>
          <a:prstGeom prst="ellipse">
            <a:avLst/>
          </a:prstGeom>
          <a:solidFill>
            <a:srgbClr val="E8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a:solidFill>
                  <a:srgbClr val="5A5A6E"/>
                </a:solidFill>
                <a:latin typeface="JetBrains Mono"/>
              </a:rPr>
              <a:t>[photo]</a:t>
            </a:r>
          </a:p>
        </p:txBody>
      </p:sp>
      <p:sp>
        <p:nvSpPr>
          <p:cNvPr id="12" name="TextBox 11"/>
          <p:cNvSpPr txBox="1"/>
          <p:nvPr/>
        </p:nvSpPr>
        <p:spPr>
          <a:xfrm>
            <a:off x="3466947" y="3977639"/>
            <a:ext cx="2423160" cy="457200"/>
          </a:xfrm>
          <a:prstGeom prst="rect">
            <a:avLst/>
          </a:prstGeom>
          <a:noFill/>
        </p:spPr>
        <p:txBody>
          <a:bodyPr wrap="square" anchor="t">
            <a:spAutoFit/>
          </a:bodyPr>
          <a:lstStyle/>
          <a:p>
            <a:pPr algn="ctr">
              <a:lnSpc>
                <a:spcPct val="100000"/>
              </a:lnSpc>
            </a:pPr>
            <a:r>
              <a:rPr sz="1500" b="1">
                <a:solidFill>
                  <a:srgbClr val="0032A0"/>
                </a:solidFill>
                <a:latin typeface="JetBrains Mono"/>
              </a:rPr>
              <a:t>[Team Member 2]</a:t>
            </a:r>
          </a:p>
        </p:txBody>
      </p:sp>
      <p:sp>
        <p:nvSpPr>
          <p:cNvPr id="13" name="TextBox 12"/>
          <p:cNvSpPr txBox="1"/>
          <p:nvPr/>
        </p:nvSpPr>
        <p:spPr>
          <a:xfrm>
            <a:off x="3466947" y="4434840"/>
            <a:ext cx="2423160" cy="365760"/>
          </a:xfrm>
          <a:prstGeom prst="rect">
            <a:avLst/>
          </a:prstGeom>
          <a:noFill/>
        </p:spPr>
        <p:txBody>
          <a:bodyPr wrap="square" anchor="t">
            <a:spAutoFit/>
          </a:bodyPr>
          <a:lstStyle/>
          <a:p>
            <a:pPr algn="ctr">
              <a:lnSpc>
                <a:spcPct val="100000"/>
              </a:lnSpc>
            </a:pPr>
            <a:r>
              <a:rPr sz="1200" b="0">
                <a:solidFill>
                  <a:srgbClr val="1A1A2E"/>
                </a:solidFill>
                <a:latin typeface="JetBrains Mono"/>
              </a:rPr>
              <a:t>[Role]</a:t>
            </a:r>
          </a:p>
        </p:txBody>
      </p:sp>
      <p:sp>
        <p:nvSpPr>
          <p:cNvPr id="14" name="TextBox 13"/>
          <p:cNvSpPr txBox="1"/>
          <p:nvPr/>
        </p:nvSpPr>
        <p:spPr>
          <a:xfrm>
            <a:off x="3466947" y="4983480"/>
            <a:ext cx="2423160" cy="731520"/>
          </a:xfrm>
          <a:prstGeom prst="rect">
            <a:avLst/>
          </a:prstGeom>
          <a:noFill/>
        </p:spPr>
        <p:txBody>
          <a:bodyPr wrap="square" anchor="t">
            <a:spAutoFit/>
          </a:bodyPr>
          <a:lstStyle/>
          <a:p>
            <a:pPr algn="ctr">
              <a:lnSpc>
                <a:spcPct val="100000"/>
              </a:lnSpc>
            </a:pPr>
            <a:r>
              <a:rPr sz="1000" b="0">
                <a:solidFill>
                  <a:srgbClr val="5A5A6E"/>
                </a:solidFill>
                <a:latin typeface="JetBrains Mono"/>
              </a:rPr>
              <a:t>linkedin.com/in/</a:t>
            </a:r>
          </a:p>
          <a:p>
            <a:pPr algn="ctr">
              <a:lnSpc>
                <a:spcPct val="100000"/>
              </a:lnSpc>
            </a:pPr>
            <a:r>
              <a:rPr sz="1000" b="0">
                <a:solidFill>
                  <a:srgbClr val="5A5A6E"/>
                </a:solidFill>
                <a:latin typeface="JetBrains Mono"/>
              </a:rPr>
              <a:t>[placeholder-2]</a:t>
            </a:r>
          </a:p>
        </p:txBody>
      </p:sp>
      <p:sp>
        <p:nvSpPr>
          <p:cNvPr id="15" name="Rounded Rectangle 14"/>
          <p:cNvSpPr/>
          <p:nvPr/>
        </p:nvSpPr>
        <p:spPr>
          <a:xfrm>
            <a:off x="6210147" y="1920240"/>
            <a:ext cx="2606040" cy="402336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1647" y="2240280"/>
            <a:ext cx="1463040" cy="1463040"/>
          </a:xfrm>
          <a:prstGeom prst="ellipse">
            <a:avLst/>
          </a:prstGeom>
          <a:solidFill>
            <a:srgbClr val="E8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a:solidFill>
                  <a:srgbClr val="5A5A6E"/>
                </a:solidFill>
                <a:latin typeface="JetBrains Mono"/>
              </a:rPr>
              <a:t>[photo]</a:t>
            </a:r>
          </a:p>
        </p:txBody>
      </p:sp>
      <p:sp>
        <p:nvSpPr>
          <p:cNvPr id="17" name="TextBox 16"/>
          <p:cNvSpPr txBox="1"/>
          <p:nvPr/>
        </p:nvSpPr>
        <p:spPr>
          <a:xfrm>
            <a:off x="6301587" y="3977639"/>
            <a:ext cx="2423160" cy="457200"/>
          </a:xfrm>
          <a:prstGeom prst="rect">
            <a:avLst/>
          </a:prstGeom>
          <a:noFill/>
        </p:spPr>
        <p:txBody>
          <a:bodyPr wrap="square" anchor="t">
            <a:spAutoFit/>
          </a:bodyPr>
          <a:lstStyle/>
          <a:p>
            <a:pPr algn="ctr">
              <a:lnSpc>
                <a:spcPct val="100000"/>
              </a:lnSpc>
            </a:pPr>
            <a:r>
              <a:rPr sz="1500" b="1">
                <a:solidFill>
                  <a:srgbClr val="0032A0"/>
                </a:solidFill>
                <a:latin typeface="JetBrains Mono"/>
              </a:rPr>
              <a:t>[Team Member 3]</a:t>
            </a:r>
          </a:p>
        </p:txBody>
      </p:sp>
      <p:sp>
        <p:nvSpPr>
          <p:cNvPr id="18" name="TextBox 17"/>
          <p:cNvSpPr txBox="1"/>
          <p:nvPr/>
        </p:nvSpPr>
        <p:spPr>
          <a:xfrm>
            <a:off x="6301587" y="4434840"/>
            <a:ext cx="2423160" cy="365760"/>
          </a:xfrm>
          <a:prstGeom prst="rect">
            <a:avLst/>
          </a:prstGeom>
          <a:noFill/>
        </p:spPr>
        <p:txBody>
          <a:bodyPr wrap="square" anchor="t">
            <a:spAutoFit/>
          </a:bodyPr>
          <a:lstStyle/>
          <a:p>
            <a:pPr algn="ctr">
              <a:lnSpc>
                <a:spcPct val="100000"/>
              </a:lnSpc>
            </a:pPr>
            <a:r>
              <a:rPr sz="1200" b="0">
                <a:solidFill>
                  <a:srgbClr val="1A1A2E"/>
                </a:solidFill>
                <a:latin typeface="JetBrains Mono"/>
              </a:rPr>
              <a:t>[Role]</a:t>
            </a:r>
          </a:p>
        </p:txBody>
      </p:sp>
      <p:sp>
        <p:nvSpPr>
          <p:cNvPr id="19" name="TextBox 18"/>
          <p:cNvSpPr txBox="1"/>
          <p:nvPr/>
        </p:nvSpPr>
        <p:spPr>
          <a:xfrm>
            <a:off x="6301587" y="4983480"/>
            <a:ext cx="2423160" cy="731520"/>
          </a:xfrm>
          <a:prstGeom prst="rect">
            <a:avLst/>
          </a:prstGeom>
          <a:noFill/>
        </p:spPr>
        <p:txBody>
          <a:bodyPr wrap="square" anchor="t">
            <a:spAutoFit/>
          </a:bodyPr>
          <a:lstStyle/>
          <a:p>
            <a:pPr algn="ctr">
              <a:lnSpc>
                <a:spcPct val="100000"/>
              </a:lnSpc>
            </a:pPr>
            <a:r>
              <a:rPr sz="1000" b="0">
                <a:solidFill>
                  <a:srgbClr val="5A5A6E"/>
                </a:solidFill>
                <a:latin typeface="JetBrains Mono"/>
              </a:rPr>
              <a:t>linkedin.com/in/</a:t>
            </a:r>
          </a:p>
          <a:p>
            <a:pPr algn="ctr">
              <a:lnSpc>
                <a:spcPct val="100000"/>
              </a:lnSpc>
            </a:pPr>
            <a:r>
              <a:rPr sz="1000" b="0">
                <a:solidFill>
                  <a:srgbClr val="5A5A6E"/>
                </a:solidFill>
                <a:latin typeface="JetBrains Mono"/>
              </a:rPr>
              <a:t>[placeholder-3]</a:t>
            </a:r>
          </a:p>
        </p:txBody>
      </p:sp>
      <p:sp>
        <p:nvSpPr>
          <p:cNvPr id="20" name="Rounded Rectangle 19"/>
          <p:cNvSpPr/>
          <p:nvPr/>
        </p:nvSpPr>
        <p:spPr>
          <a:xfrm>
            <a:off x="9044787" y="1920240"/>
            <a:ext cx="2606040" cy="402336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16287" y="2240280"/>
            <a:ext cx="1463040" cy="1463040"/>
          </a:xfrm>
          <a:prstGeom prst="ellipse">
            <a:avLst/>
          </a:prstGeom>
          <a:solidFill>
            <a:srgbClr val="E8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0">
                <a:solidFill>
                  <a:srgbClr val="5A5A6E"/>
                </a:solidFill>
                <a:latin typeface="JetBrains Mono"/>
              </a:rPr>
              <a:t>[photo]</a:t>
            </a:r>
          </a:p>
        </p:txBody>
      </p:sp>
      <p:sp>
        <p:nvSpPr>
          <p:cNvPr id="22" name="TextBox 21"/>
          <p:cNvSpPr txBox="1"/>
          <p:nvPr/>
        </p:nvSpPr>
        <p:spPr>
          <a:xfrm>
            <a:off x="9136227" y="3977639"/>
            <a:ext cx="2423160" cy="457200"/>
          </a:xfrm>
          <a:prstGeom prst="rect">
            <a:avLst/>
          </a:prstGeom>
          <a:noFill/>
        </p:spPr>
        <p:txBody>
          <a:bodyPr wrap="square" anchor="t">
            <a:spAutoFit/>
          </a:bodyPr>
          <a:lstStyle/>
          <a:p>
            <a:pPr algn="ctr">
              <a:lnSpc>
                <a:spcPct val="100000"/>
              </a:lnSpc>
            </a:pPr>
            <a:r>
              <a:rPr sz="1500" b="1">
                <a:solidFill>
                  <a:srgbClr val="0032A0"/>
                </a:solidFill>
                <a:latin typeface="JetBrains Mono"/>
              </a:rPr>
              <a:t>[Team Member 4]</a:t>
            </a:r>
          </a:p>
        </p:txBody>
      </p:sp>
      <p:sp>
        <p:nvSpPr>
          <p:cNvPr id="23" name="TextBox 22"/>
          <p:cNvSpPr txBox="1"/>
          <p:nvPr/>
        </p:nvSpPr>
        <p:spPr>
          <a:xfrm>
            <a:off x="9136227" y="4434840"/>
            <a:ext cx="2423160" cy="365760"/>
          </a:xfrm>
          <a:prstGeom prst="rect">
            <a:avLst/>
          </a:prstGeom>
          <a:noFill/>
        </p:spPr>
        <p:txBody>
          <a:bodyPr wrap="square" anchor="t">
            <a:spAutoFit/>
          </a:bodyPr>
          <a:lstStyle/>
          <a:p>
            <a:pPr algn="ctr">
              <a:lnSpc>
                <a:spcPct val="100000"/>
              </a:lnSpc>
            </a:pPr>
            <a:r>
              <a:rPr sz="1200" b="0">
                <a:solidFill>
                  <a:srgbClr val="1A1A2E"/>
                </a:solidFill>
                <a:latin typeface="JetBrains Mono"/>
              </a:rPr>
              <a:t>[Role]</a:t>
            </a:r>
          </a:p>
        </p:txBody>
      </p:sp>
      <p:sp>
        <p:nvSpPr>
          <p:cNvPr id="24" name="TextBox 23"/>
          <p:cNvSpPr txBox="1"/>
          <p:nvPr/>
        </p:nvSpPr>
        <p:spPr>
          <a:xfrm>
            <a:off x="9136227" y="4983480"/>
            <a:ext cx="2423160" cy="731520"/>
          </a:xfrm>
          <a:prstGeom prst="rect">
            <a:avLst/>
          </a:prstGeom>
          <a:noFill/>
        </p:spPr>
        <p:txBody>
          <a:bodyPr wrap="square" anchor="t">
            <a:spAutoFit/>
          </a:bodyPr>
          <a:lstStyle/>
          <a:p>
            <a:pPr algn="ctr">
              <a:lnSpc>
                <a:spcPct val="100000"/>
              </a:lnSpc>
            </a:pPr>
            <a:r>
              <a:rPr sz="1000" b="0">
                <a:solidFill>
                  <a:srgbClr val="5A5A6E"/>
                </a:solidFill>
                <a:latin typeface="JetBrains Mono"/>
              </a:rPr>
              <a:t>linkedin.com/in/</a:t>
            </a:r>
          </a:p>
          <a:p>
            <a:pPr algn="ctr">
              <a:lnSpc>
                <a:spcPct val="100000"/>
              </a:lnSpc>
            </a:pPr>
            <a:r>
              <a:rPr sz="1000" b="0">
                <a:solidFill>
                  <a:srgbClr val="5A5A6E"/>
                </a:solidFill>
                <a:latin typeface="JetBrains Mono"/>
              </a:rPr>
              <a:t>[placeholder-4]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822960"/>
          </a:xfrm>
          <a:prstGeom prst="rect">
            <a:avLst/>
          </a:prstGeom>
          <a:noFill/>
        </p:spPr>
        <p:txBody>
          <a:bodyPr wrap="square" anchor="t">
            <a:spAutoFit/>
          </a:bodyPr>
          <a:lstStyle/>
          <a:p>
            <a:pPr algn="l">
              <a:lnSpc>
                <a:spcPct val="100000"/>
              </a:lnSpc>
            </a:pPr>
            <a:r>
              <a:rPr sz="3400" b="1">
                <a:solidFill>
                  <a:srgbClr val="0032A0"/>
                </a:solidFill>
                <a:latin typeface="JetBrains Mono"/>
              </a:rPr>
              <a:t>The Problem</a:t>
            </a:r>
          </a:p>
        </p:txBody>
      </p:sp>
      <p:sp>
        <p:nvSpPr>
          <p:cNvPr id="3" name="TextBox 2"/>
          <p:cNvSpPr txBox="1"/>
          <p:nvPr/>
        </p:nvSpPr>
        <p:spPr>
          <a:xfrm>
            <a:off x="685800" y="1024128"/>
            <a:ext cx="10820095" cy="457200"/>
          </a:xfrm>
          <a:prstGeom prst="rect">
            <a:avLst/>
          </a:prstGeom>
          <a:noFill/>
        </p:spPr>
        <p:txBody>
          <a:bodyPr wrap="square" anchor="t">
            <a:spAutoFit/>
          </a:bodyPr>
          <a:lstStyle/>
          <a:p>
            <a:pPr algn="l">
              <a:lnSpc>
                <a:spcPct val="100000"/>
              </a:lnSpc>
            </a:pPr>
            <a:r>
              <a:rPr sz="1500" b="0">
                <a:solidFill>
                  <a:srgbClr val="5A5A6E"/>
                </a:solidFill>
                <a:latin typeface="JetBrains Mono"/>
              </a:rPr>
              <a:t>"Most people got away with it for years — now it's catching up."  — Chris, CSUB ITS</a:t>
            </a:r>
          </a:p>
        </p:txBody>
      </p:sp>
      <p:sp>
        <p:nvSpPr>
          <p:cNvPr id="4" name="Rectangle 3"/>
          <p:cNvSpPr/>
          <p:nvPr/>
        </p:nvSpPr>
        <p:spPr>
          <a:xfrm>
            <a:off x="685800" y="1417320"/>
            <a:ext cx="1828800" cy="82296"/>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947672"/>
            <a:ext cx="146304" cy="658368"/>
          </a:xfrm>
          <a:prstGeom prst="rect">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874519"/>
            <a:ext cx="6035040" cy="411480"/>
          </a:xfrm>
          <a:prstGeom prst="rect">
            <a:avLst/>
          </a:prstGeom>
          <a:noFill/>
        </p:spPr>
        <p:txBody>
          <a:bodyPr wrap="square" anchor="t">
            <a:spAutoFit/>
          </a:bodyPr>
          <a:lstStyle/>
          <a:p>
            <a:pPr algn="l">
              <a:lnSpc>
                <a:spcPct val="100000"/>
              </a:lnSpc>
            </a:pPr>
            <a:r>
              <a:rPr sz="1900" b="1">
                <a:solidFill>
                  <a:srgbClr val="1A1A2E"/>
                </a:solidFill>
                <a:latin typeface="JetBrains Mono"/>
              </a:rPr>
              <a:t>Every purchase needs vetting</a:t>
            </a:r>
          </a:p>
        </p:txBody>
      </p:sp>
      <p:sp>
        <p:nvSpPr>
          <p:cNvPr id="7" name="TextBox 6"/>
          <p:cNvSpPr txBox="1"/>
          <p:nvPr/>
        </p:nvSpPr>
        <p:spPr>
          <a:xfrm>
            <a:off x="7223760" y="1929384"/>
            <a:ext cx="4297680" cy="411480"/>
          </a:xfrm>
          <a:prstGeom prst="rect">
            <a:avLst/>
          </a:prstGeom>
          <a:noFill/>
        </p:spPr>
        <p:txBody>
          <a:bodyPr wrap="square" anchor="t">
            <a:spAutoFit/>
          </a:bodyPr>
          <a:lstStyle/>
          <a:p>
            <a:pPr algn="l">
              <a:lnSpc>
                <a:spcPct val="100000"/>
              </a:lnSpc>
            </a:pPr>
            <a:r>
              <a:rPr sz="1400" b="0">
                <a:solidFill>
                  <a:srgbClr val="5A5A6E"/>
                </a:solidFill>
                <a:latin typeface="JetBrains Mono"/>
              </a:rPr>
              <a:t>Software, hardware, SaaS</a:t>
            </a:r>
          </a:p>
        </p:txBody>
      </p:sp>
      <p:sp>
        <p:nvSpPr>
          <p:cNvPr id="8" name="Rectangle 7"/>
          <p:cNvSpPr/>
          <p:nvPr/>
        </p:nvSpPr>
        <p:spPr>
          <a:xfrm>
            <a:off x="685800" y="2880360"/>
            <a:ext cx="146304" cy="658368"/>
          </a:xfrm>
          <a:prstGeom prst="rect">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807208"/>
            <a:ext cx="6035040" cy="411480"/>
          </a:xfrm>
          <a:prstGeom prst="rect">
            <a:avLst/>
          </a:prstGeom>
          <a:noFill/>
        </p:spPr>
        <p:txBody>
          <a:bodyPr wrap="square" anchor="t">
            <a:spAutoFit/>
          </a:bodyPr>
          <a:lstStyle/>
          <a:p>
            <a:pPr algn="l">
              <a:lnSpc>
                <a:spcPct val="100000"/>
              </a:lnSpc>
            </a:pPr>
            <a:r>
              <a:rPr sz="1900" b="1">
                <a:solidFill>
                  <a:srgbClr val="1A1A2E"/>
                </a:solidFill>
                <a:latin typeface="JetBrains Mono"/>
              </a:rPr>
              <a:t>Security</a:t>
            </a:r>
          </a:p>
        </p:txBody>
      </p:sp>
      <p:sp>
        <p:nvSpPr>
          <p:cNvPr id="10" name="TextBox 9"/>
          <p:cNvSpPr txBox="1"/>
          <p:nvPr/>
        </p:nvSpPr>
        <p:spPr>
          <a:xfrm>
            <a:off x="7223760" y="2862072"/>
            <a:ext cx="4297680" cy="411480"/>
          </a:xfrm>
          <a:prstGeom prst="rect">
            <a:avLst/>
          </a:prstGeom>
          <a:noFill/>
        </p:spPr>
        <p:txBody>
          <a:bodyPr wrap="square" anchor="t">
            <a:spAutoFit/>
          </a:bodyPr>
          <a:lstStyle/>
          <a:p>
            <a:pPr algn="l">
              <a:lnSpc>
                <a:spcPct val="100000"/>
              </a:lnSpc>
            </a:pPr>
            <a:r>
              <a:rPr sz="1400" b="0">
                <a:solidFill>
                  <a:srgbClr val="5A5A6E"/>
                </a:solidFill>
                <a:latin typeface="JetBrains Mono"/>
              </a:rPr>
              <a:t>Data safety, encryption, HECVAT</a:t>
            </a:r>
          </a:p>
        </p:txBody>
      </p:sp>
      <p:sp>
        <p:nvSpPr>
          <p:cNvPr id="11" name="Rectangle 10"/>
          <p:cNvSpPr/>
          <p:nvPr/>
        </p:nvSpPr>
        <p:spPr>
          <a:xfrm>
            <a:off x="685800" y="3813048"/>
            <a:ext cx="146304" cy="658368"/>
          </a:xfrm>
          <a:prstGeom prst="rect">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39896"/>
            <a:ext cx="6035040" cy="411480"/>
          </a:xfrm>
          <a:prstGeom prst="rect">
            <a:avLst/>
          </a:prstGeom>
          <a:noFill/>
        </p:spPr>
        <p:txBody>
          <a:bodyPr wrap="square" anchor="t">
            <a:spAutoFit/>
          </a:bodyPr>
          <a:lstStyle/>
          <a:p>
            <a:pPr algn="l">
              <a:lnSpc>
                <a:spcPct val="100000"/>
              </a:lnSpc>
            </a:pPr>
            <a:r>
              <a:rPr sz="1900" b="1">
                <a:solidFill>
                  <a:srgbClr val="1A1A2E"/>
                </a:solidFill>
                <a:latin typeface="JetBrains Mono"/>
              </a:rPr>
              <a:t>Accessibility</a:t>
            </a:r>
          </a:p>
        </p:txBody>
      </p:sp>
      <p:sp>
        <p:nvSpPr>
          <p:cNvPr id="13" name="TextBox 12"/>
          <p:cNvSpPr txBox="1"/>
          <p:nvPr/>
        </p:nvSpPr>
        <p:spPr>
          <a:xfrm>
            <a:off x="7223760" y="3794759"/>
            <a:ext cx="4297680" cy="411480"/>
          </a:xfrm>
          <a:prstGeom prst="rect">
            <a:avLst/>
          </a:prstGeom>
          <a:noFill/>
        </p:spPr>
        <p:txBody>
          <a:bodyPr wrap="square" anchor="t">
            <a:spAutoFit/>
          </a:bodyPr>
          <a:lstStyle/>
          <a:p>
            <a:pPr algn="l">
              <a:lnSpc>
                <a:spcPct val="100000"/>
              </a:lnSpc>
            </a:pPr>
            <a:r>
              <a:rPr sz="1400" b="0">
                <a:solidFill>
                  <a:srgbClr val="5A5A6E"/>
                </a:solidFill>
                <a:latin typeface="JetBrains Mono"/>
              </a:rPr>
              <a:t>Section 508 · VPAT · screen readers</a:t>
            </a:r>
          </a:p>
        </p:txBody>
      </p:sp>
      <p:sp>
        <p:nvSpPr>
          <p:cNvPr id="14" name="Rectangle 13"/>
          <p:cNvSpPr/>
          <p:nvPr/>
        </p:nvSpPr>
        <p:spPr>
          <a:xfrm>
            <a:off x="685800" y="4745736"/>
            <a:ext cx="146304" cy="658368"/>
          </a:xfrm>
          <a:prstGeom prst="rect">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672583"/>
            <a:ext cx="6035040" cy="411480"/>
          </a:xfrm>
          <a:prstGeom prst="rect">
            <a:avLst/>
          </a:prstGeom>
          <a:noFill/>
        </p:spPr>
        <p:txBody>
          <a:bodyPr wrap="square" anchor="t">
            <a:spAutoFit/>
          </a:bodyPr>
          <a:lstStyle/>
          <a:p>
            <a:pPr algn="l">
              <a:lnSpc>
                <a:spcPct val="100000"/>
              </a:lnSpc>
            </a:pPr>
            <a:r>
              <a:rPr sz="1900" b="1">
                <a:solidFill>
                  <a:srgbClr val="1A1A2E"/>
                </a:solidFill>
                <a:latin typeface="JetBrains Mono"/>
              </a:rPr>
              <a:t>Contract &amp; insurance</a:t>
            </a:r>
          </a:p>
        </p:txBody>
      </p:sp>
      <p:sp>
        <p:nvSpPr>
          <p:cNvPr id="16" name="TextBox 15"/>
          <p:cNvSpPr txBox="1"/>
          <p:nvPr/>
        </p:nvSpPr>
        <p:spPr>
          <a:xfrm>
            <a:off x="7223760" y="4727447"/>
            <a:ext cx="4297680" cy="411480"/>
          </a:xfrm>
          <a:prstGeom prst="rect">
            <a:avLst/>
          </a:prstGeom>
          <a:noFill/>
        </p:spPr>
        <p:txBody>
          <a:bodyPr wrap="square" anchor="t">
            <a:spAutoFit/>
          </a:bodyPr>
          <a:lstStyle/>
          <a:p>
            <a:pPr algn="l">
              <a:lnSpc>
                <a:spcPct val="100000"/>
              </a:lnSpc>
            </a:pPr>
            <a:r>
              <a:rPr sz="1400" b="0">
                <a:solidFill>
                  <a:srgbClr val="5A5A6E"/>
                </a:solidFill>
                <a:latin typeface="JetBrains Mono"/>
              </a:rPr>
              <a:t>"$1M liability — is that okay?"</a:t>
            </a:r>
          </a:p>
        </p:txBody>
      </p:sp>
      <p:sp>
        <p:nvSpPr>
          <p:cNvPr id="17" name="Rectangle 16"/>
          <p:cNvSpPr/>
          <p:nvPr/>
        </p:nvSpPr>
        <p:spPr>
          <a:xfrm>
            <a:off x="685800" y="5678423"/>
            <a:ext cx="146304" cy="658368"/>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605271"/>
            <a:ext cx="6035040" cy="411480"/>
          </a:xfrm>
          <a:prstGeom prst="rect">
            <a:avLst/>
          </a:prstGeom>
          <a:noFill/>
        </p:spPr>
        <p:txBody>
          <a:bodyPr wrap="square" anchor="t">
            <a:spAutoFit/>
          </a:bodyPr>
          <a:lstStyle/>
          <a:p>
            <a:pPr algn="l">
              <a:lnSpc>
                <a:spcPct val="100000"/>
              </a:lnSpc>
            </a:pPr>
            <a:r>
              <a:rPr sz="1900" b="1">
                <a:solidFill>
                  <a:srgbClr val="1A1A2E"/>
                </a:solidFill>
                <a:latin typeface="JetBrains Mono"/>
              </a:rPr>
              <a:t>Honor system failed</a:t>
            </a:r>
          </a:p>
        </p:txBody>
      </p:sp>
      <p:sp>
        <p:nvSpPr>
          <p:cNvPr id="19" name="TextBox 18"/>
          <p:cNvSpPr txBox="1"/>
          <p:nvPr/>
        </p:nvSpPr>
        <p:spPr>
          <a:xfrm>
            <a:off x="7223760" y="5660135"/>
            <a:ext cx="4297680" cy="411480"/>
          </a:xfrm>
          <a:prstGeom prst="rect">
            <a:avLst/>
          </a:prstGeom>
          <a:noFill/>
        </p:spPr>
        <p:txBody>
          <a:bodyPr wrap="square" anchor="t">
            <a:spAutoFit/>
          </a:bodyPr>
          <a:lstStyle/>
          <a:p>
            <a:pPr algn="l">
              <a:lnSpc>
                <a:spcPct val="100000"/>
              </a:lnSpc>
            </a:pPr>
            <a:r>
              <a:rPr sz="1400" b="0">
                <a:solidFill>
                  <a:srgbClr val="5A5A6E"/>
                </a:solidFill>
                <a:latin typeface="JetBrains Mono"/>
              </a:rPr>
              <a:t>P2P gate: no review, no PO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822960"/>
          </a:xfrm>
          <a:prstGeom prst="rect">
            <a:avLst/>
          </a:prstGeom>
          <a:noFill/>
        </p:spPr>
        <p:txBody>
          <a:bodyPr wrap="square" anchor="t">
            <a:spAutoFit/>
          </a:bodyPr>
          <a:lstStyle/>
          <a:p>
            <a:pPr algn="l">
              <a:lnSpc>
                <a:spcPct val="100000"/>
              </a:lnSpc>
            </a:pPr>
            <a:r>
              <a:rPr sz="3400" b="1">
                <a:solidFill>
                  <a:srgbClr val="0032A0"/>
                </a:solidFill>
                <a:latin typeface="JetBrains Mono"/>
              </a:rPr>
              <a:t>Today's Process</a:t>
            </a:r>
          </a:p>
        </p:txBody>
      </p:sp>
      <p:sp>
        <p:nvSpPr>
          <p:cNvPr id="3" name="TextBox 2"/>
          <p:cNvSpPr txBox="1"/>
          <p:nvPr/>
        </p:nvSpPr>
        <p:spPr>
          <a:xfrm>
            <a:off x="685800" y="1024128"/>
            <a:ext cx="10820095" cy="457200"/>
          </a:xfrm>
          <a:prstGeom prst="rect">
            <a:avLst/>
          </a:prstGeom>
          <a:noFill/>
        </p:spPr>
        <p:txBody>
          <a:bodyPr wrap="square" anchor="t">
            <a:spAutoFit/>
          </a:bodyPr>
          <a:lstStyle/>
          <a:p>
            <a:pPr algn="l">
              <a:lnSpc>
                <a:spcPct val="100000"/>
              </a:lnSpc>
            </a:pPr>
            <a:r>
              <a:rPr sz="1500" b="0">
                <a:solidFill>
                  <a:srgbClr val="5A5A6E"/>
                </a:solidFill>
                <a:latin typeface="JetBrains Mono"/>
              </a:rPr>
              <a:t>Manual · tribal · every item treated the same</a:t>
            </a:r>
          </a:p>
        </p:txBody>
      </p:sp>
      <p:sp>
        <p:nvSpPr>
          <p:cNvPr id="4" name="Rectangle 3"/>
          <p:cNvSpPr/>
          <p:nvPr/>
        </p:nvSpPr>
        <p:spPr>
          <a:xfrm>
            <a:off x="685800" y="1417320"/>
            <a:ext cx="1828800" cy="82296"/>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hevron 4"/>
          <p:cNvSpPr/>
          <p:nvPr/>
        </p:nvSpPr>
        <p:spPr>
          <a:xfrm>
            <a:off x="609447" y="2377440"/>
            <a:ext cx="1691640" cy="914400"/>
          </a:xfrm>
          <a:prstGeom prst="chevron">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FFFFFF"/>
                </a:solidFill>
                <a:latin typeface="JetBrains Mono"/>
              </a:rPr>
              <a:t>Submit</a:t>
            </a:r>
          </a:p>
        </p:txBody>
      </p:sp>
      <p:sp>
        <p:nvSpPr>
          <p:cNvPr id="6" name="TextBox 5"/>
          <p:cNvSpPr txBox="1"/>
          <p:nvPr/>
        </p:nvSpPr>
        <p:spPr>
          <a:xfrm>
            <a:off x="563727" y="3474720"/>
            <a:ext cx="1783080" cy="1097280"/>
          </a:xfrm>
          <a:prstGeom prst="rect">
            <a:avLst/>
          </a:prstGeom>
          <a:noFill/>
        </p:spPr>
        <p:txBody>
          <a:bodyPr wrap="square" anchor="t">
            <a:spAutoFit/>
          </a:bodyPr>
          <a:lstStyle/>
          <a:p>
            <a:pPr algn="ctr">
              <a:lnSpc>
                <a:spcPct val="100000"/>
              </a:lnSpc>
            </a:pPr>
            <a:r>
              <a:rPr sz="1050" b="0">
                <a:solidFill>
                  <a:srgbClr val="5A5A6E"/>
                </a:solidFill>
                <a:latin typeface="JetBrains Mono"/>
              </a:rPr>
              <a:t>Confused ServiceNow request</a:t>
            </a:r>
          </a:p>
        </p:txBody>
      </p:sp>
      <p:sp>
        <p:nvSpPr>
          <p:cNvPr id="7" name="Chevron 6"/>
          <p:cNvSpPr/>
          <p:nvPr/>
        </p:nvSpPr>
        <p:spPr>
          <a:xfrm>
            <a:off x="2465679" y="2377440"/>
            <a:ext cx="1691640" cy="914400"/>
          </a:xfrm>
          <a:prstGeom prst="chevron">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FFFFFF"/>
                </a:solidFill>
                <a:latin typeface="JetBrains Mono"/>
              </a:rPr>
              <a:t>Email loop</a:t>
            </a:r>
          </a:p>
        </p:txBody>
      </p:sp>
      <p:sp>
        <p:nvSpPr>
          <p:cNvPr id="8" name="TextBox 7"/>
          <p:cNvSpPr txBox="1"/>
          <p:nvPr/>
        </p:nvSpPr>
        <p:spPr>
          <a:xfrm>
            <a:off x="2419959" y="3474720"/>
            <a:ext cx="1783080" cy="1097280"/>
          </a:xfrm>
          <a:prstGeom prst="rect">
            <a:avLst/>
          </a:prstGeom>
          <a:noFill/>
        </p:spPr>
        <p:txBody>
          <a:bodyPr wrap="square" anchor="t">
            <a:spAutoFit/>
          </a:bodyPr>
          <a:lstStyle/>
          <a:p>
            <a:pPr algn="ctr">
              <a:lnSpc>
                <a:spcPct val="100000"/>
              </a:lnSpc>
            </a:pPr>
            <a:r>
              <a:rPr sz="1050" b="0">
                <a:solidFill>
                  <a:srgbClr val="5A5A6E"/>
                </a:solidFill>
                <a:latin typeface="JetBrains Mono"/>
              </a:rPr>
              <a:t>Vocabulary hand-holding</a:t>
            </a:r>
          </a:p>
        </p:txBody>
      </p:sp>
      <p:sp>
        <p:nvSpPr>
          <p:cNvPr id="9" name="Chevron 8"/>
          <p:cNvSpPr/>
          <p:nvPr/>
        </p:nvSpPr>
        <p:spPr>
          <a:xfrm>
            <a:off x="4321911" y="2377440"/>
            <a:ext cx="1691640" cy="914400"/>
          </a:xfrm>
          <a:prstGeom prst="chevron">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FFFFFF"/>
                </a:solidFill>
                <a:latin typeface="JetBrains Mono"/>
              </a:rPr>
              <a:t>Doc chase</a:t>
            </a:r>
          </a:p>
        </p:txBody>
      </p:sp>
      <p:sp>
        <p:nvSpPr>
          <p:cNvPr id="10" name="TextBox 9"/>
          <p:cNvSpPr txBox="1"/>
          <p:nvPr/>
        </p:nvSpPr>
        <p:spPr>
          <a:xfrm>
            <a:off x="4276191" y="3474720"/>
            <a:ext cx="1783080" cy="1097280"/>
          </a:xfrm>
          <a:prstGeom prst="rect">
            <a:avLst/>
          </a:prstGeom>
          <a:noFill/>
        </p:spPr>
        <p:txBody>
          <a:bodyPr wrap="square" anchor="t">
            <a:spAutoFit/>
          </a:bodyPr>
          <a:lstStyle/>
          <a:p>
            <a:pPr algn="ctr">
              <a:lnSpc>
                <a:spcPct val="100000"/>
              </a:lnSpc>
            </a:pPr>
            <a:r>
              <a:rPr sz="1050" b="0">
                <a:solidFill>
                  <a:srgbClr val="5A5A6E"/>
                </a:solidFill>
                <a:latin typeface="JetBrains Mono"/>
              </a:rPr>
              <a:t>Weeks chasing vendor docs</a:t>
            </a:r>
          </a:p>
        </p:txBody>
      </p:sp>
      <p:sp>
        <p:nvSpPr>
          <p:cNvPr id="11" name="Chevron 10"/>
          <p:cNvSpPr/>
          <p:nvPr/>
        </p:nvSpPr>
        <p:spPr>
          <a:xfrm>
            <a:off x="6178143" y="2377440"/>
            <a:ext cx="1691640" cy="914400"/>
          </a:xfrm>
          <a:prstGeom prst="chevron">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FFFFFF"/>
                </a:solidFill>
                <a:latin typeface="JetBrains Mono"/>
              </a:rPr>
              <a:t>Hand review</a:t>
            </a:r>
          </a:p>
        </p:txBody>
      </p:sp>
      <p:sp>
        <p:nvSpPr>
          <p:cNvPr id="12" name="TextBox 11"/>
          <p:cNvSpPr txBox="1"/>
          <p:nvPr/>
        </p:nvSpPr>
        <p:spPr>
          <a:xfrm>
            <a:off x="6132423" y="3474720"/>
            <a:ext cx="1783080" cy="1097280"/>
          </a:xfrm>
          <a:prstGeom prst="rect">
            <a:avLst/>
          </a:prstGeom>
          <a:noFill/>
        </p:spPr>
        <p:txBody>
          <a:bodyPr wrap="square" anchor="t">
            <a:spAutoFit/>
          </a:bodyPr>
          <a:lstStyle/>
          <a:p>
            <a:pPr algn="ctr">
              <a:lnSpc>
                <a:spcPct val="100000"/>
              </a:lnSpc>
            </a:pPr>
            <a:r>
              <a:rPr sz="1050" b="0">
                <a:solidFill>
                  <a:srgbClr val="5A5A6E"/>
                </a:solidFill>
                <a:latin typeface="JetBrains Mono"/>
              </a:rPr>
              <a:t>Manual checks, ISO</a:t>
            </a:r>
          </a:p>
        </p:txBody>
      </p:sp>
      <p:sp>
        <p:nvSpPr>
          <p:cNvPr id="13" name="Chevron 12"/>
          <p:cNvSpPr/>
          <p:nvPr/>
        </p:nvSpPr>
        <p:spPr>
          <a:xfrm>
            <a:off x="8034375" y="2377440"/>
            <a:ext cx="1691640" cy="914400"/>
          </a:xfrm>
          <a:prstGeom prst="chevron">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FFFFFF"/>
                </a:solidFill>
                <a:latin typeface="JetBrains Mono"/>
              </a:rPr>
              <a:t>Weekly vote</a:t>
            </a:r>
          </a:p>
        </p:txBody>
      </p:sp>
      <p:sp>
        <p:nvSpPr>
          <p:cNvPr id="14" name="TextBox 13"/>
          <p:cNvSpPr txBox="1"/>
          <p:nvPr/>
        </p:nvSpPr>
        <p:spPr>
          <a:xfrm>
            <a:off x="7988655" y="3474720"/>
            <a:ext cx="1783080" cy="1097280"/>
          </a:xfrm>
          <a:prstGeom prst="rect">
            <a:avLst/>
          </a:prstGeom>
          <a:noFill/>
        </p:spPr>
        <p:txBody>
          <a:bodyPr wrap="square" anchor="t">
            <a:spAutoFit/>
          </a:bodyPr>
          <a:lstStyle/>
          <a:p>
            <a:pPr algn="ctr">
              <a:lnSpc>
                <a:spcPct val="100000"/>
              </a:lnSpc>
            </a:pPr>
            <a:r>
              <a:rPr sz="1050" b="0">
                <a:solidFill>
                  <a:srgbClr val="5A5A6E"/>
                </a:solidFill>
                <a:latin typeface="JetBrains Mono"/>
              </a:rPr>
              <a:t>Backlog compounds</a:t>
            </a:r>
          </a:p>
        </p:txBody>
      </p:sp>
      <p:sp>
        <p:nvSpPr>
          <p:cNvPr id="15" name="Chevron 14"/>
          <p:cNvSpPr/>
          <p:nvPr/>
        </p:nvSpPr>
        <p:spPr>
          <a:xfrm>
            <a:off x="9890607" y="2377440"/>
            <a:ext cx="1691640" cy="914400"/>
          </a:xfrm>
          <a:prstGeom prst="chevron">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1A1A2E"/>
                </a:solidFill>
                <a:latin typeface="JetBrains Mono"/>
              </a:rPr>
              <a:t>~2 months</a:t>
            </a:r>
          </a:p>
        </p:txBody>
      </p:sp>
      <p:sp>
        <p:nvSpPr>
          <p:cNvPr id="16" name="TextBox 15"/>
          <p:cNvSpPr txBox="1"/>
          <p:nvPr/>
        </p:nvSpPr>
        <p:spPr>
          <a:xfrm>
            <a:off x="9844887" y="3474720"/>
            <a:ext cx="1783080" cy="1097280"/>
          </a:xfrm>
          <a:prstGeom prst="rect">
            <a:avLst/>
          </a:prstGeom>
          <a:noFill/>
        </p:spPr>
        <p:txBody>
          <a:bodyPr wrap="square" anchor="t">
            <a:spAutoFit/>
          </a:bodyPr>
          <a:lstStyle/>
          <a:p>
            <a:pPr algn="ctr">
              <a:lnSpc>
                <a:spcPct val="100000"/>
              </a:lnSpc>
            </a:pPr>
            <a:r>
              <a:rPr sz="1050" b="0">
                <a:solidFill>
                  <a:srgbClr val="5A5A6E"/>
                </a:solidFill>
                <a:latin typeface="JetBrains Mono"/>
              </a:rPr>
              <a:t>Was 2–3 weeks</a:t>
            </a:r>
          </a:p>
        </p:txBody>
      </p:sp>
      <p:sp>
        <p:nvSpPr>
          <p:cNvPr id="17" name="TextBox 16"/>
          <p:cNvSpPr txBox="1"/>
          <p:nvPr/>
        </p:nvSpPr>
        <p:spPr>
          <a:xfrm>
            <a:off x="0" y="4892040"/>
            <a:ext cx="12191695" cy="822960"/>
          </a:xfrm>
          <a:prstGeom prst="rect">
            <a:avLst/>
          </a:prstGeom>
          <a:noFill/>
        </p:spPr>
        <p:txBody>
          <a:bodyPr wrap="square" anchor="t">
            <a:spAutoFit/>
          </a:bodyPr>
          <a:lstStyle/>
          <a:p>
            <a:pPr algn="ctr">
              <a:lnSpc>
                <a:spcPct val="100000"/>
              </a:lnSpc>
            </a:pPr>
            <a:r>
              <a:rPr sz="3000" b="1">
                <a:solidFill>
                  <a:srgbClr val="0032A0"/>
                </a:solidFill>
                <a:latin typeface="JetBrains Mono"/>
              </a:rPr>
              <a:t>2–3 weeks  →  ~2 months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822960"/>
          </a:xfrm>
          <a:prstGeom prst="rect">
            <a:avLst/>
          </a:prstGeom>
          <a:noFill/>
        </p:spPr>
        <p:txBody>
          <a:bodyPr wrap="square" anchor="t">
            <a:spAutoFit/>
          </a:bodyPr>
          <a:lstStyle/>
          <a:p>
            <a:pPr algn="l">
              <a:lnSpc>
                <a:spcPct val="100000"/>
              </a:lnSpc>
            </a:pPr>
            <a:r>
              <a:rPr sz="3400" b="1">
                <a:solidFill>
                  <a:srgbClr val="0032A0"/>
                </a:solidFill>
                <a:latin typeface="JetBrains Mono"/>
              </a:rPr>
              <a:t>The Solution: VETTED</a:t>
            </a:r>
          </a:p>
        </p:txBody>
      </p:sp>
      <p:sp>
        <p:nvSpPr>
          <p:cNvPr id="3" name="TextBox 2"/>
          <p:cNvSpPr txBox="1"/>
          <p:nvPr/>
        </p:nvSpPr>
        <p:spPr>
          <a:xfrm>
            <a:off x="685800" y="1024128"/>
            <a:ext cx="10820095" cy="457200"/>
          </a:xfrm>
          <a:prstGeom prst="rect">
            <a:avLst/>
          </a:prstGeom>
          <a:noFill/>
        </p:spPr>
        <p:txBody>
          <a:bodyPr wrap="square" anchor="t">
            <a:spAutoFit/>
          </a:bodyPr>
          <a:lstStyle/>
          <a:p>
            <a:pPr algn="l">
              <a:lnSpc>
                <a:spcPct val="100000"/>
              </a:lnSpc>
            </a:pPr>
            <a:r>
              <a:rPr sz="1500" b="0">
                <a:solidFill>
                  <a:srgbClr val="5A5A6E"/>
                </a:solidFill>
                <a:latin typeface="JetBrains Mono"/>
              </a:rPr>
              <a:t>Auto-vet the low-risk majority</a:t>
            </a:r>
          </a:p>
        </p:txBody>
      </p:sp>
      <p:sp>
        <p:nvSpPr>
          <p:cNvPr id="4" name="Rectangle 3"/>
          <p:cNvSpPr/>
          <p:nvPr/>
        </p:nvSpPr>
        <p:spPr>
          <a:xfrm>
            <a:off x="685800" y="1417320"/>
            <a:ext cx="1828800" cy="82296"/>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0867" y="2103120"/>
            <a:ext cx="2606040" cy="310896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69467" y="2377440"/>
            <a:ext cx="594360" cy="594360"/>
          </a:xfrm>
          <a:prstGeom prst="ellipse">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A1A2E"/>
                </a:solidFill>
                <a:latin typeface="JetBrains Mono"/>
              </a:rPr>
              <a:t>1</a:t>
            </a:r>
          </a:p>
        </p:txBody>
      </p:sp>
      <p:sp>
        <p:nvSpPr>
          <p:cNvPr id="7" name="TextBox 6"/>
          <p:cNvSpPr txBox="1"/>
          <p:nvPr/>
        </p:nvSpPr>
        <p:spPr>
          <a:xfrm>
            <a:off x="769467" y="3291840"/>
            <a:ext cx="2148840" cy="868680"/>
          </a:xfrm>
          <a:prstGeom prst="rect">
            <a:avLst/>
          </a:prstGeom>
          <a:noFill/>
        </p:spPr>
        <p:txBody>
          <a:bodyPr wrap="square" anchor="t">
            <a:spAutoFit/>
          </a:bodyPr>
          <a:lstStyle/>
          <a:p>
            <a:pPr algn="l">
              <a:lnSpc>
                <a:spcPct val="100000"/>
              </a:lnSpc>
            </a:pPr>
            <a:r>
              <a:rPr sz="1700" b="1">
                <a:solidFill>
                  <a:srgbClr val="0032A0"/>
                </a:solidFill>
                <a:latin typeface="JetBrains Mono"/>
              </a:rPr>
              <a:t>Guided vendor intake</a:t>
            </a:r>
          </a:p>
        </p:txBody>
      </p:sp>
      <p:sp>
        <p:nvSpPr>
          <p:cNvPr id="8" name="TextBox 7"/>
          <p:cNvSpPr txBox="1"/>
          <p:nvPr/>
        </p:nvSpPr>
        <p:spPr>
          <a:xfrm>
            <a:off x="769467" y="4206240"/>
            <a:ext cx="2148840" cy="822960"/>
          </a:xfrm>
          <a:prstGeom prst="rect">
            <a:avLst/>
          </a:prstGeom>
          <a:noFill/>
        </p:spPr>
        <p:txBody>
          <a:bodyPr wrap="square" anchor="t">
            <a:spAutoFit/>
          </a:bodyPr>
          <a:lstStyle/>
          <a:p>
            <a:pPr algn="l">
              <a:lnSpc>
                <a:spcPct val="100000"/>
              </a:lnSpc>
            </a:pPr>
            <a:r>
              <a:rPr sz="1250" b="0">
                <a:solidFill>
                  <a:srgbClr val="5A5A6E"/>
                </a:solidFill>
                <a:latin typeface="JetBrains Mono"/>
              </a:rPr>
              <a:t>Secure link, evidence upload</a:t>
            </a:r>
          </a:p>
        </p:txBody>
      </p:sp>
      <p:sp>
        <p:nvSpPr>
          <p:cNvPr id="9" name="Rounded Rectangle 8"/>
          <p:cNvSpPr/>
          <p:nvPr/>
        </p:nvSpPr>
        <p:spPr>
          <a:xfrm>
            <a:off x="3375507" y="2103120"/>
            <a:ext cx="2606040" cy="310896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604107" y="2377440"/>
            <a:ext cx="594360" cy="594360"/>
          </a:xfrm>
          <a:prstGeom prst="ellipse">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A1A2E"/>
                </a:solidFill>
                <a:latin typeface="JetBrains Mono"/>
              </a:rPr>
              <a:t>2</a:t>
            </a:r>
          </a:p>
        </p:txBody>
      </p:sp>
      <p:sp>
        <p:nvSpPr>
          <p:cNvPr id="11" name="TextBox 10"/>
          <p:cNvSpPr txBox="1"/>
          <p:nvPr/>
        </p:nvSpPr>
        <p:spPr>
          <a:xfrm>
            <a:off x="3604107" y="3291840"/>
            <a:ext cx="2148840" cy="868680"/>
          </a:xfrm>
          <a:prstGeom prst="rect">
            <a:avLst/>
          </a:prstGeom>
          <a:noFill/>
        </p:spPr>
        <p:txBody>
          <a:bodyPr wrap="square" anchor="t">
            <a:spAutoFit/>
          </a:bodyPr>
          <a:lstStyle/>
          <a:p>
            <a:pPr algn="l">
              <a:lnSpc>
                <a:spcPct val="100000"/>
              </a:lnSpc>
            </a:pPr>
            <a:r>
              <a:rPr sz="1700" b="1">
                <a:solidFill>
                  <a:srgbClr val="0032A0"/>
                </a:solidFill>
                <a:latin typeface="JetBrains Mono"/>
              </a:rPr>
              <a:t>AI reads</a:t>
            </a:r>
          </a:p>
        </p:txBody>
      </p:sp>
      <p:sp>
        <p:nvSpPr>
          <p:cNvPr id="12" name="TextBox 11"/>
          <p:cNvSpPr txBox="1"/>
          <p:nvPr/>
        </p:nvSpPr>
        <p:spPr>
          <a:xfrm>
            <a:off x="3604107" y="4206240"/>
            <a:ext cx="2148840" cy="822960"/>
          </a:xfrm>
          <a:prstGeom prst="rect">
            <a:avLst/>
          </a:prstGeom>
          <a:noFill/>
        </p:spPr>
        <p:txBody>
          <a:bodyPr wrap="square" anchor="t">
            <a:spAutoFit/>
          </a:bodyPr>
          <a:lstStyle/>
          <a:p>
            <a:pPr algn="l">
              <a:lnSpc>
                <a:spcPct val="100000"/>
              </a:lnSpc>
            </a:pPr>
            <a:r>
              <a:rPr sz="1250" b="0">
                <a:solidFill>
                  <a:srgbClr val="5A5A6E"/>
                </a:solidFill>
                <a:latin typeface="JetBrains Mono"/>
              </a:rPr>
              <a:t>Cited facts only</a:t>
            </a:r>
          </a:p>
        </p:txBody>
      </p:sp>
      <p:sp>
        <p:nvSpPr>
          <p:cNvPr id="13" name="Rounded Rectangle 12"/>
          <p:cNvSpPr/>
          <p:nvPr/>
        </p:nvSpPr>
        <p:spPr>
          <a:xfrm>
            <a:off x="6210147" y="2103120"/>
            <a:ext cx="2606040" cy="310896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38747" y="2377440"/>
            <a:ext cx="594360" cy="594360"/>
          </a:xfrm>
          <a:prstGeom prst="ellipse">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A1A2E"/>
                </a:solidFill>
                <a:latin typeface="JetBrains Mono"/>
              </a:rPr>
              <a:t>3</a:t>
            </a:r>
          </a:p>
        </p:txBody>
      </p:sp>
      <p:sp>
        <p:nvSpPr>
          <p:cNvPr id="15" name="TextBox 14"/>
          <p:cNvSpPr txBox="1"/>
          <p:nvPr/>
        </p:nvSpPr>
        <p:spPr>
          <a:xfrm>
            <a:off x="6438747" y="3291840"/>
            <a:ext cx="2148840" cy="868680"/>
          </a:xfrm>
          <a:prstGeom prst="rect">
            <a:avLst/>
          </a:prstGeom>
          <a:noFill/>
        </p:spPr>
        <p:txBody>
          <a:bodyPr wrap="square" anchor="t">
            <a:spAutoFit/>
          </a:bodyPr>
          <a:lstStyle/>
          <a:p>
            <a:pPr algn="l">
              <a:lnSpc>
                <a:spcPct val="100000"/>
              </a:lnSpc>
            </a:pPr>
            <a:r>
              <a:rPr sz="1700" b="1">
                <a:solidFill>
                  <a:srgbClr val="0032A0"/>
                </a:solidFill>
                <a:latin typeface="JetBrains Mono"/>
              </a:rPr>
              <a:t>Rules route</a:t>
            </a:r>
          </a:p>
        </p:txBody>
      </p:sp>
      <p:sp>
        <p:nvSpPr>
          <p:cNvPr id="16" name="TextBox 15"/>
          <p:cNvSpPr txBox="1"/>
          <p:nvPr/>
        </p:nvSpPr>
        <p:spPr>
          <a:xfrm>
            <a:off x="6438747" y="4206240"/>
            <a:ext cx="2148840" cy="822960"/>
          </a:xfrm>
          <a:prstGeom prst="rect">
            <a:avLst/>
          </a:prstGeom>
          <a:noFill/>
        </p:spPr>
        <p:txBody>
          <a:bodyPr wrap="square" anchor="t">
            <a:spAutoFit/>
          </a:bodyPr>
          <a:lstStyle/>
          <a:p>
            <a:pPr algn="l">
              <a:lnSpc>
                <a:spcPct val="100000"/>
              </a:lnSpc>
            </a:pPr>
            <a:r>
              <a:rPr sz="1250" b="0">
                <a:solidFill>
                  <a:srgbClr val="5A5A6E"/>
                </a:solidFill>
                <a:latin typeface="JetBrains Mono"/>
              </a:rPr>
              <a:t>Deterministic risk routing</a:t>
            </a:r>
          </a:p>
        </p:txBody>
      </p:sp>
      <p:sp>
        <p:nvSpPr>
          <p:cNvPr id="17" name="Rounded Rectangle 16"/>
          <p:cNvSpPr/>
          <p:nvPr/>
        </p:nvSpPr>
        <p:spPr>
          <a:xfrm>
            <a:off x="9044787" y="2103120"/>
            <a:ext cx="2606040" cy="310896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273387" y="2377440"/>
            <a:ext cx="594360" cy="594360"/>
          </a:xfrm>
          <a:prstGeom prst="ellipse">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A1A2E"/>
                </a:solidFill>
                <a:latin typeface="JetBrains Mono"/>
              </a:rPr>
              <a:t>4</a:t>
            </a:r>
          </a:p>
        </p:txBody>
      </p:sp>
      <p:sp>
        <p:nvSpPr>
          <p:cNvPr id="19" name="TextBox 18"/>
          <p:cNvSpPr txBox="1"/>
          <p:nvPr/>
        </p:nvSpPr>
        <p:spPr>
          <a:xfrm>
            <a:off x="9273387" y="3291840"/>
            <a:ext cx="2148840" cy="868680"/>
          </a:xfrm>
          <a:prstGeom prst="rect">
            <a:avLst/>
          </a:prstGeom>
          <a:noFill/>
        </p:spPr>
        <p:txBody>
          <a:bodyPr wrap="square" anchor="t">
            <a:spAutoFit/>
          </a:bodyPr>
          <a:lstStyle/>
          <a:p>
            <a:pPr algn="l">
              <a:lnSpc>
                <a:spcPct val="100000"/>
              </a:lnSpc>
            </a:pPr>
            <a:r>
              <a:rPr sz="1700" b="1">
                <a:solidFill>
                  <a:srgbClr val="0032A0"/>
                </a:solidFill>
                <a:latin typeface="JetBrains Mono"/>
              </a:rPr>
              <a:t>People decide</a:t>
            </a:r>
          </a:p>
        </p:txBody>
      </p:sp>
      <p:sp>
        <p:nvSpPr>
          <p:cNvPr id="20" name="TextBox 19"/>
          <p:cNvSpPr txBox="1"/>
          <p:nvPr/>
        </p:nvSpPr>
        <p:spPr>
          <a:xfrm>
            <a:off x="9273387" y="4206240"/>
            <a:ext cx="2148840" cy="822960"/>
          </a:xfrm>
          <a:prstGeom prst="rect">
            <a:avLst/>
          </a:prstGeom>
          <a:noFill/>
        </p:spPr>
        <p:txBody>
          <a:bodyPr wrap="square" anchor="t">
            <a:spAutoFit/>
          </a:bodyPr>
          <a:lstStyle/>
          <a:p>
            <a:pPr algn="l">
              <a:lnSpc>
                <a:spcPct val="100000"/>
              </a:lnSpc>
            </a:pPr>
            <a:r>
              <a:rPr sz="1250" b="0">
                <a:solidFill>
                  <a:srgbClr val="5A5A6E"/>
                </a:solidFill>
                <a:latin typeface="JetBrains Mono"/>
              </a:rPr>
              <a:t>One click, fully audited</a:t>
            </a:r>
          </a:p>
        </p:txBody>
      </p:sp>
      <p:pic>
        <p:nvPicPr>
          <p:cNvPr id="21" name="Picture 20" descr="vetted-logo.png"/>
          <p:cNvPicPr>
            <a:picLocks noChangeAspect="1"/>
          </p:cNvPicPr>
          <p:nvPr/>
        </p:nvPicPr>
        <p:blipFill>
          <a:blip r:embed="rId2"/>
          <a:stretch>
            <a:fillRect/>
          </a:stretch>
        </p:blipFill>
        <p:spPr>
          <a:xfrm>
            <a:off x="10774375" y="5806440"/>
            <a:ext cx="868680" cy="8686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822960"/>
          </a:xfrm>
          <a:prstGeom prst="rect">
            <a:avLst/>
          </a:prstGeom>
          <a:noFill/>
        </p:spPr>
        <p:txBody>
          <a:bodyPr wrap="square" anchor="t">
            <a:spAutoFit/>
          </a:bodyPr>
          <a:lstStyle/>
          <a:p>
            <a:pPr algn="l">
              <a:lnSpc>
                <a:spcPct val="100000"/>
              </a:lnSpc>
            </a:pPr>
            <a:r>
              <a:rPr sz="3400" b="1">
                <a:solidFill>
                  <a:srgbClr val="0032A0"/>
                </a:solidFill>
                <a:latin typeface="JetBrains Mono"/>
              </a:rPr>
              <a:t>Architecture: Three Layers</a:t>
            </a:r>
          </a:p>
        </p:txBody>
      </p:sp>
      <p:sp>
        <p:nvSpPr>
          <p:cNvPr id="3" name="TextBox 2"/>
          <p:cNvSpPr txBox="1"/>
          <p:nvPr/>
        </p:nvSpPr>
        <p:spPr>
          <a:xfrm>
            <a:off x="685800" y="1024128"/>
            <a:ext cx="10820095" cy="457200"/>
          </a:xfrm>
          <a:prstGeom prst="rect">
            <a:avLst/>
          </a:prstGeom>
          <a:noFill/>
        </p:spPr>
        <p:txBody>
          <a:bodyPr wrap="square" anchor="t">
            <a:spAutoFit/>
          </a:bodyPr>
          <a:lstStyle/>
          <a:p>
            <a:pPr algn="l">
              <a:lnSpc>
                <a:spcPct val="100000"/>
              </a:lnSpc>
            </a:pPr>
            <a:r>
              <a:rPr sz="1500" b="0">
                <a:solidFill>
                  <a:srgbClr val="5A5A6E"/>
                </a:solidFill>
                <a:latin typeface="JetBrains Mono"/>
              </a:rPr>
              <a:t>Hard boundaries — the model can't cross them</a:t>
            </a:r>
          </a:p>
        </p:txBody>
      </p:sp>
      <p:sp>
        <p:nvSpPr>
          <p:cNvPr id="4" name="Rectangle 3"/>
          <p:cNvSpPr/>
          <p:nvPr/>
        </p:nvSpPr>
        <p:spPr>
          <a:xfrm>
            <a:off x="685800" y="1417320"/>
            <a:ext cx="1828800" cy="82296"/>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718407" y="2057400"/>
            <a:ext cx="4754880" cy="1170432"/>
          </a:xfrm>
          <a:prstGeom prst="round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1A1A2E"/>
                </a:solidFill>
                <a:latin typeface="JetBrains Mono"/>
              </a:rPr>
              <a:t>PEOPLE DECIDE</a:t>
            </a:r>
          </a:p>
          <a:p>
            <a:pPr algn="ctr"/>
            <a:r>
              <a:rPr sz="1500" b="0">
                <a:solidFill>
                  <a:srgbClr val="1A1A2E"/>
                </a:solidFill>
                <a:latin typeface="JetBrains Mono"/>
              </a:rPr>
              <a:t>Recorded human decision required</a:t>
            </a:r>
          </a:p>
        </p:txBody>
      </p:sp>
      <p:sp>
        <p:nvSpPr>
          <p:cNvPr id="6" name="Rounded Rectangle 5"/>
          <p:cNvSpPr/>
          <p:nvPr/>
        </p:nvSpPr>
        <p:spPr>
          <a:xfrm>
            <a:off x="2621127" y="3410712"/>
            <a:ext cx="6949440" cy="1170432"/>
          </a:xfrm>
          <a:prstGeom prst="roundRect">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FFFFFF"/>
                </a:solidFill>
                <a:latin typeface="JetBrains Mono"/>
              </a:rPr>
              <a:t>RULES ROUTE</a:t>
            </a:r>
          </a:p>
          <a:p>
            <a:pPr algn="ctr"/>
            <a:r>
              <a:rPr sz="1500" b="0">
                <a:solidFill>
                  <a:srgbClr val="FFFFFF"/>
                </a:solidFill>
                <a:latin typeface="JetBrains Mono"/>
              </a:rPr>
              <a:t>Versioned trees, plain code</a:t>
            </a:r>
          </a:p>
        </p:txBody>
      </p:sp>
      <p:sp>
        <p:nvSpPr>
          <p:cNvPr id="7" name="Rounded Rectangle 6"/>
          <p:cNvSpPr/>
          <p:nvPr/>
        </p:nvSpPr>
        <p:spPr>
          <a:xfrm>
            <a:off x="1523847" y="4764024"/>
            <a:ext cx="9144000" cy="1170432"/>
          </a:xfrm>
          <a:prstGeom prst="roundRect">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500" b="1">
                <a:solidFill>
                  <a:srgbClr val="FFFFFF"/>
                </a:solidFill>
                <a:latin typeface="JetBrains Mono"/>
              </a:rPr>
              <a:t>AI READS</a:t>
            </a:r>
          </a:p>
          <a:p>
            <a:pPr algn="ctr"/>
            <a:r>
              <a:rPr sz="1500" b="0">
                <a:solidFill>
                  <a:srgbClr val="FFFFFF"/>
                </a:solidFill>
                <a:latin typeface="JetBrains Mono"/>
              </a:rPr>
              <a:t>Parallel specialists, citation-checked</a:t>
            </a:r>
          </a:p>
        </p:txBody>
      </p:sp>
      <p:sp>
        <p:nvSpPr>
          <p:cNvPr id="8" name="TextBox 7"/>
          <p:cNvSpPr txBox="1"/>
          <p:nvPr/>
        </p:nvSpPr>
        <p:spPr>
          <a:xfrm>
            <a:off x="0" y="6217920"/>
            <a:ext cx="12191695" cy="365760"/>
          </a:xfrm>
          <a:prstGeom prst="rect">
            <a:avLst/>
          </a:prstGeom>
          <a:noFill/>
        </p:spPr>
        <p:txBody>
          <a:bodyPr wrap="square" anchor="t">
            <a:spAutoFit/>
          </a:bodyPr>
          <a:lstStyle/>
          <a:p>
            <a:pPr algn="ctr">
              <a:lnSpc>
                <a:spcPct val="100000"/>
              </a:lnSpc>
            </a:pPr>
            <a:r>
              <a:rPr sz="1100" b="0">
                <a:solidFill>
                  <a:srgbClr val="5A5A6E"/>
                </a:solidFill>
                <a:latin typeface="JetBrains Mono"/>
              </a:rPr>
              <a:t>React reviewer app (presentation only) · Python backend · AWS Bedrock · DynamoDB · KMS-encrypted S3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1554480"/>
            <a:ext cx="12191695" cy="1097280"/>
          </a:xfrm>
          <a:prstGeom prst="rect">
            <a:avLst/>
          </a:prstGeom>
          <a:noFill/>
        </p:spPr>
        <p:txBody>
          <a:bodyPr wrap="square" anchor="t">
            <a:spAutoFit/>
          </a:bodyPr>
          <a:lstStyle/>
          <a:p>
            <a:pPr algn="ctr">
              <a:lnSpc>
                <a:spcPct val="100000"/>
              </a:lnSpc>
            </a:pPr>
            <a:r>
              <a:rPr sz="5400" b="1">
                <a:solidFill>
                  <a:srgbClr val="0032A0"/>
                </a:solidFill>
                <a:latin typeface="JetBrains Mono"/>
              </a:rPr>
              <a:t>Demo</a:t>
            </a:r>
          </a:p>
        </p:txBody>
      </p:sp>
      <p:sp>
        <p:nvSpPr>
          <p:cNvPr id="3" name="Rectangle 2"/>
          <p:cNvSpPr/>
          <p:nvPr/>
        </p:nvSpPr>
        <p:spPr>
          <a:xfrm>
            <a:off x="4632807" y="2697480"/>
            <a:ext cx="2926080" cy="82296"/>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2971800"/>
            <a:ext cx="12191695" cy="548640"/>
          </a:xfrm>
          <a:prstGeom prst="rect">
            <a:avLst/>
          </a:prstGeom>
          <a:noFill/>
        </p:spPr>
        <p:txBody>
          <a:bodyPr wrap="square" anchor="t">
            <a:spAutoFit/>
          </a:bodyPr>
          <a:lstStyle/>
          <a:p>
            <a:pPr algn="ctr">
              <a:lnSpc>
                <a:spcPct val="100000"/>
              </a:lnSpc>
            </a:pPr>
            <a:r>
              <a:rPr sz="2000" b="0">
                <a:solidFill>
                  <a:srgbClr val="1A1A2E"/>
                </a:solidFill>
                <a:latin typeface="JetBrains Mono"/>
              </a:rPr>
              <a:t>Intake  →  Routing  →  Packet  →  Decision</a:t>
            </a:r>
          </a:p>
        </p:txBody>
      </p:sp>
      <p:sp>
        <p:nvSpPr>
          <p:cNvPr id="5" name="Rounded Rectangle 4"/>
          <p:cNvSpPr/>
          <p:nvPr/>
        </p:nvSpPr>
        <p:spPr>
          <a:xfrm>
            <a:off x="2986887" y="3794760"/>
            <a:ext cx="6217920" cy="2286000"/>
          </a:xfrm>
          <a:prstGeom prst="roundRect">
            <a:avLst/>
          </a:prstGeom>
          <a:solidFill>
            <a:srgbClr val="E8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0">
                <a:solidFill>
                  <a:srgbClr val="5A5A6E"/>
                </a:solidFill>
                <a:latin typeface="JetBrains Mono"/>
              </a:rPr>
              <a:t>[ live demo / screenshot placeholder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11480"/>
            <a:ext cx="10820095" cy="822960"/>
          </a:xfrm>
          <a:prstGeom prst="rect">
            <a:avLst/>
          </a:prstGeom>
          <a:noFill/>
        </p:spPr>
        <p:txBody>
          <a:bodyPr wrap="square" anchor="t">
            <a:spAutoFit/>
          </a:bodyPr>
          <a:lstStyle/>
          <a:p>
            <a:pPr algn="l">
              <a:lnSpc>
                <a:spcPct val="100000"/>
              </a:lnSpc>
            </a:pPr>
            <a:r>
              <a:rPr sz="3400" b="1">
                <a:solidFill>
                  <a:srgbClr val="0032A0"/>
                </a:solidFill>
                <a:latin typeface="JetBrains Mono"/>
              </a:rPr>
              <a:t>Future Integrations</a:t>
            </a:r>
          </a:p>
        </p:txBody>
      </p:sp>
      <p:sp>
        <p:nvSpPr>
          <p:cNvPr id="3" name="TextBox 2"/>
          <p:cNvSpPr txBox="1"/>
          <p:nvPr/>
        </p:nvSpPr>
        <p:spPr>
          <a:xfrm>
            <a:off x="685800" y="1024128"/>
            <a:ext cx="10820095" cy="457200"/>
          </a:xfrm>
          <a:prstGeom prst="rect">
            <a:avLst/>
          </a:prstGeom>
          <a:noFill/>
        </p:spPr>
        <p:txBody>
          <a:bodyPr wrap="square" anchor="t">
            <a:spAutoFit/>
          </a:bodyPr>
          <a:lstStyle/>
          <a:p>
            <a:pPr algn="l">
              <a:lnSpc>
                <a:spcPct val="100000"/>
              </a:lnSpc>
            </a:pPr>
            <a:r>
              <a:rPr sz="1500" b="0">
                <a:solidFill>
                  <a:srgbClr val="5A5A6E"/>
                </a:solidFill>
                <a:latin typeface="JetBrains Mono"/>
              </a:rPr>
              <a:t>Trust is earned incrementally</a:t>
            </a:r>
          </a:p>
        </p:txBody>
      </p:sp>
      <p:sp>
        <p:nvSpPr>
          <p:cNvPr id="4" name="Rectangle 3"/>
          <p:cNvSpPr/>
          <p:nvPr/>
        </p:nvSpPr>
        <p:spPr>
          <a:xfrm>
            <a:off x="685800" y="1417320"/>
            <a:ext cx="1828800" cy="82296"/>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15187" y="2057400"/>
            <a:ext cx="5120640" cy="169164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5187" y="2057400"/>
            <a:ext cx="128016" cy="1691640"/>
          </a:xfrm>
          <a:prstGeom prst="rect">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0947" y="2331720"/>
            <a:ext cx="4480559" cy="502920"/>
          </a:xfrm>
          <a:prstGeom prst="rect">
            <a:avLst/>
          </a:prstGeom>
          <a:noFill/>
        </p:spPr>
        <p:txBody>
          <a:bodyPr wrap="square" anchor="t">
            <a:spAutoFit/>
          </a:bodyPr>
          <a:lstStyle/>
          <a:p>
            <a:pPr algn="l">
              <a:lnSpc>
                <a:spcPct val="100000"/>
              </a:lnSpc>
            </a:pPr>
            <a:r>
              <a:rPr sz="1800" b="1">
                <a:solidFill>
                  <a:srgbClr val="0032A0"/>
                </a:solidFill>
                <a:latin typeface="JetBrains Mono"/>
              </a:rPr>
              <a:t>Live ServiceNow</a:t>
            </a:r>
          </a:p>
        </p:txBody>
      </p:sp>
      <p:sp>
        <p:nvSpPr>
          <p:cNvPr id="8" name="TextBox 7"/>
          <p:cNvSpPr txBox="1"/>
          <p:nvPr/>
        </p:nvSpPr>
        <p:spPr>
          <a:xfrm>
            <a:off x="1180947" y="2926080"/>
            <a:ext cx="4480559" cy="548640"/>
          </a:xfrm>
          <a:prstGeom prst="rect">
            <a:avLst/>
          </a:prstGeom>
          <a:noFill/>
        </p:spPr>
        <p:txBody>
          <a:bodyPr wrap="square" anchor="t">
            <a:spAutoFit/>
          </a:bodyPr>
          <a:lstStyle/>
          <a:p>
            <a:pPr algn="l">
              <a:lnSpc>
                <a:spcPct val="100000"/>
              </a:lnSpc>
            </a:pPr>
            <a:r>
              <a:rPr sz="1300" b="0">
                <a:solidFill>
                  <a:srgbClr val="5A5A6E"/>
                </a:solidFill>
                <a:latin typeface="JetBrains Mono"/>
              </a:rPr>
              <a:t>Real write-back, fully audited</a:t>
            </a:r>
          </a:p>
        </p:txBody>
      </p:sp>
      <p:sp>
        <p:nvSpPr>
          <p:cNvPr id="9" name="Rounded Rectangle 8"/>
          <p:cNvSpPr/>
          <p:nvPr/>
        </p:nvSpPr>
        <p:spPr>
          <a:xfrm>
            <a:off x="6255867" y="2057400"/>
            <a:ext cx="5120640" cy="169164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2057400"/>
            <a:ext cx="128016" cy="169164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1627" y="2331720"/>
            <a:ext cx="4480559" cy="502920"/>
          </a:xfrm>
          <a:prstGeom prst="rect">
            <a:avLst/>
          </a:prstGeom>
          <a:noFill/>
        </p:spPr>
        <p:txBody>
          <a:bodyPr wrap="square" anchor="t">
            <a:spAutoFit/>
          </a:bodyPr>
          <a:lstStyle/>
          <a:p>
            <a:pPr algn="l">
              <a:lnSpc>
                <a:spcPct val="100000"/>
              </a:lnSpc>
            </a:pPr>
            <a:r>
              <a:rPr sz="1800" b="1">
                <a:solidFill>
                  <a:srgbClr val="0032A0"/>
                </a:solidFill>
                <a:latin typeface="JetBrains Mono"/>
              </a:rPr>
              <a:t>Slack &amp; Teams</a:t>
            </a:r>
          </a:p>
        </p:txBody>
      </p:sp>
      <p:sp>
        <p:nvSpPr>
          <p:cNvPr id="12" name="TextBox 11"/>
          <p:cNvSpPr txBox="1"/>
          <p:nvPr/>
        </p:nvSpPr>
        <p:spPr>
          <a:xfrm>
            <a:off x="6621627" y="2926080"/>
            <a:ext cx="4480559" cy="548640"/>
          </a:xfrm>
          <a:prstGeom prst="rect">
            <a:avLst/>
          </a:prstGeom>
          <a:noFill/>
        </p:spPr>
        <p:txBody>
          <a:bodyPr wrap="square" anchor="t">
            <a:spAutoFit/>
          </a:bodyPr>
          <a:lstStyle/>
          <a:p>
            <a:pPr algn="l">
              <a:lnSpc>
                <a:spcPct val="100000"/>
              </a:lnSpc>
            </a:pPr>
            <a:r>
              <a:rPr sz="1300" b="0">
                <a:solidFill>
                  <a:srgbClr val="5A5A6E"/>
                </a:solidFill>
                <a:latin typeface="JetBrains Mono"/>
              </a:rPr>
              <a:t>Notify where work happens</a:t>
            </a:r>
          </a:p>
        </p:txBody>
      </p:sp>
      <p:sp>
        <p:nvSpPr>
          <p:cNvPr id="13" name="Rounded Rectangle 12"/>
          <p:cNvSpPr/>
          <p:nvPr/>
        </p:nvSpPr>
        <p:spPr>
          <a:xfrm>
            <a:off x="815187" y="4069080"/>
            <a:ext cx="5120640" cy="169164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5187" y="4069080"/>
            <a:ext cx="128016" cy="1691640"/>
          </a:xfrm>
          <a:prstGeom prst="rect">
            <a:avLst/>
          </a:prstGeom>
          <a:solidFill>
            <a:srgbClr val="003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0947" y="4343400"/>
            <a:ext cx="4480559" cy="502920"/>
          </a:xfrm>
          <a:prstGeom prst="rect">
            <a:avLst/>
          </a:prstGeom>
          <a:noFill/>
        </p:spPr>
        <p:txBody>
          <a:bodyPr wrap="square" anchor="t">
            <a:spAutoFit/>
          </a:bodyPr>
          <a:lstStyle/>
          <a:p>
            <a:pPr algn="l">
              <a:lnSpc>
                <a:spcPct val="100000"/>
              </a:lnSpc>
            </a:pPr>
            <a:r>
              <a:rPr sz="1800" b="1">
                <a:solidFill>
                  <a:srgbClr val="0032A0"/>
                </a:solidFill>
                <a:latin typeface="JetBrains Mono"/>
              </a:rPr>
              <a:t>Vendor verification</a:t>
            </a:r>
          </a:p>
        </p:txBody>
      </p:sp>
      <p:sp>
        <p:nvSpPr>
          <p:cNvPr id="16" name="TextBox 15"/>
          <p:cNvSpPr txBox="1"/>
          <p:nvPr/>
        </p:nvSpPr>
        <p:spPr>
          <a:xfrm>
            <a:off x="1180947" y="4937760"/>
            <a:ext cx="4480559" cy="548640"/>
          </a:xfrm>
          <a:prstGeom prst="rect">
            <a:avLst/>
          </a:prstGeom>
          <a:noFill/>
        </p:spPr>
        <p:txBody>
          <a:bodyPr wrap="square" anchor="t">
            <a:spAutoFit/>
          </a:bodyPr>
          <a:lstStyle/>
          <a:p>
            <a:pPr algn="l">
              <a:lnSpc>
                <a:spcPct val="100000"/>
              </a:lnSpc>
            </a:pPr>
            <a:r>
              <a:rPr sz="1300" b="0">
                <a:solidFill>
                  <a:srgbClr val="5A5A6E"/>
                </a:solidFill>
                <a:latin typeface="JetBrains Mono"/>
              </a:rPr>
              <a:t>Allowlisted, read-only research</a:t>
            </a:r>
          </a:p>
        </p:txBody>
      </p:sp>
      <p:sp>
        <p:nvSpPr>
          <p:cNvPr id="17" name="Rounded Rectangle 16"/>
          <p:cNvSpPr/>
          <p:nvPr/>
        </p:nvSpPr>
        <p:spPr>
          <a:xfrm>
            <a:off x="6255867" y="4069080"/>
            <a:ext cx="5120640" cy="1691640"/>
          </a:xfrm>
          <a:prstGeom prst="roundRect">
            <a:avLst/>
          </a:prstGeom>
          <a:solidFill>
            <a:srgbClr val="FFFFFF"/>
          </a:solidFill>
          <a:ln w="15875">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5867" y="4069080"/>
            <a:ext cx="128016" cy="169164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1627" y="4343400"/>
            <a:ext cx="4480559" cy="502920"/>
          </a:xfrm>
          <a:prstGeom prst="rect">
            <a:avLst/>
          </a:prstGeom>
          <a:noFill/>
        </p:spPr>
        <p:txBody>
          <a:bodyPr wrap="square" anchor="t">
            <a:spAutoFit/>
          </a:bodyPr>
          <a:lstStyle/>
          <a:p>
            <a:pPr algn="l">
              <a:lnSpc>
                <a:spcPct val="100000"/>
              </a:lnSpc>
            </a:pPr>
            <a:r>
              <a:rPr sz="1800" b="1">
                <a:solidFill>
                  <a:srgbClr val="0032A0"/>
                </a:solidFill>
                <a:latin typeface="JetBrains Mono"/>
              </a:rPr>
              <a:t>Scale &amp; hardening</a:t>
            </a:r>
          </a:p>
        </p:txBody>
      </p:sp>
      <p:sp>
        <p:nvSpPr>
          <p:cNvPr id="20" name="TextBox 19"/>
          <p:cNvSpPr txBox="1"/>
          <p:nvPr/>
        </p:nvSpPr>
        <p:spPr>
          <a:xfrm>
            <a:off x="6621627" y="4937760"/>
            <a:ext cx="4480559" cy="548640"/>
          </a:xfrm>
          <a:prstGeom prst="rect">
            <a:avLst/>
          </a:prstGeom>
          <a:noFill/>
        </p:spPr>
        <p:txBody>
          <a:bodyPr wrap="square" anchor="t">
            <a:spAutoFit/>
          </a:bodyPr>
          <a:lstStyle/>
          <a:p>
            <a:pPr algn="l">
              <a:lnSpc>
                <a:spcPct val="100000"/>
              </a:lnSpc>
            </a:pPr>
            <a:r>
              <a:rPr sz="1300" b="0">
                <a:solidFill>
                  <a:srgbClr val="5A5A6E"/>
                </a:solidFill>
                <a:latin typeface="JetBrains Mono"/>
              </a:rPr>
              <a:t>RAG · SSO · evidence re-review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03120"/>
            <a:ext cx="12191695" cy="1280160"/>
          </a:xfrm>
          <a:prstGeom prst="rect">
            <a:avLst/>
          </a:prstGeom>
          <a:noFill/>
        </p:spPr>
        <p:txBody>
          <a:bodyPr wrap="square" anchor="t">
            <a:spAutoFit/>
          </a:bodyPr>
          <a:lstStyle/>
          <a:p>
            <a:pPr algn="ctr">
              <a:lnSpc>
                <a:spcPct val="100000"/>
              </a:lnSpc>
            </a:pPr>
            <a:r>
              <a:rPr sz="6600" b="1">
                <a:solidFill>
                  <a:srgbClr val="0032A0"/>
                </a:solidFill>
                <a:latin typeface="JetBrains Mono"/>
              </a:rPr>
              <a:t>Q&amp;A</a:t>
            </a:r>
          </a:p>
        </p:txBody>
      </p:sp>
      <p:sp>
        <p:nvSpPr>
          <p:cNvPr id="3" name="Rectangle 2"/>
          <p:cNvSpPr/>
          <p:nvPr/>
        </p:nvSpPr>
        <p:spPr>
          <a:xfrm>
            <a:off x="4632807" y="3474720"/>
            <a:ext cx="2926080" cy="82296"/>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749039"/>
            <a:ext cx="12191695" cy="548640"/>
          </a:xfrm>
          <a:prstGeom prst="rect">
            <a:avLst/>
          </a:prstGeom>
          <a:noFill/>
        </p:spPr>
        <p:txBody>
          <a:bodyPr wrap="square" anchor="t">
            <a:spAutoFit/>
          </a:bodyPr>
          <a:lstStyle/>
          <a:p>
            <a:pPr algn="ctr">
              <a:lnSpc>
                <a:spcPct val="100000"/>
              </a:lnSpc>
            </a:pPr>
            <a:r>
              <a:rPr sz="1800" b="0">
                <a:solidFill>
                  <a:srgbClr val="1A1A2E"/>
                </a:solidFill>
                <a:latin typeface="JetBrains Mono"/>
              </a:rPr>
              <a:t>AI reads. Rules route. People decide.</a:t>
            </a:r>
          </a:p>
        </p:txBody>
      </p:sp>
      <p:pic>
        <p:nvPicPr>
          <p:cNvPr id="5" name="Picture 4" descr="vetted-logo.png"/>
          <p:cNvPicPr>
            <a:picLocks noChangeAspect="1"/>
          </p:cNvPicPr>
          <p:nvPr/>
        </p:nvPicPr>
        <p:blipFill>
          <a:blip r:embed="rId2"/>
          <a:stretch>
            <a:fillRect/>
          </a:stretch>
        </p:blipFill>
        <p:spPr>
          <a:xfrm>
            <a:off x="5501487" y="4663440"/>
            <a:ext cx="1188720" cy="11887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